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70" r:id="rId7"/>
    <p:sldId id="262" r:id="rId8"/>
    <p:sldId id="263" r:id="rId9"/>
    <p:sldId id="264" r:id="rId10"/>
    <p:sldId id="271" r:id="rId11"/>
    <p:sldId id="268" r:id="rId12"/>
    <p:sldId id="269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18D97B-36A0-45FF-8A47-3885F080086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476A4DF-8DAA-4CE6-8FC8-C5D8C24D5091}">
      <dgm:prSet/>
      <dgm:spPr/>
      <dgm:t>
        <a:bodyPr/>
        <a:lstStyle/>
        <a:p>
          <a:pPr>
            <a:defRPr cap="all"/>
          </a:pPr>
          <a:r>
            <a:rPr lang="en-US" dirty="0"/>
            <a:t>• Coffee dominates sales</a:t>
          </a:r>
        </a:p>
      </dgm:t>
    </dgm:pt>
    <dgm:pt modelId="{B614D7A3-706D-44AF-B455-06B84F40C527}" type="parTrans" cxnId="{96A0C04F-7F68-4715-9FFC-B02204604D34}">
      <dgm:prSet/>
      <dgm:spPr/>
      <dgm:t>
        <a:bodyPr/>
        <a:lstStyle/>
        <a:p>
          <a:endParaRPr lang="en-US"/>
        </a:p>
      </dgm:t>
    </dgm:pt>
    <dgm:pt modelId="{AA944868-71B7-4DB8-9057-A596D86DDA51}" type="sibTrans" cxnId="{96A0C04F-7F68-4715-9FFC-B02204604D34}">
      <dgm:prSet/>
      <dgm:spPr/>
      <dgm:t>
        <a:bodyPr/>
        <a:lstStyle/>
        <a:p>
          <a:endParaRPr lang="en-US"/>
        </a:p>
      </dgm:t>
    </dgm:pt>
    <dgm:pt modelId="{B193E756-BF20-4D77-8266-F6D1ADA58B11}">
      <dgm:prSet/>
      <dgm:spPr/>
      <dgm:t>
        <a:bodyPr/>
        <a:lstStyle/>
        <a:p>
          <a:pPr>
            <a:defRPr cap="all"/>
          </a:pPr>
          <a:r>
            <a:rPr lang="en-US" dirty="0"/>
            <a:t>• Beverages perform consistently</a:t>
          </a:r>
        </a:p>
      </dgm:t>
    </dgm:pt>
    <dgm:pt modelId="{E7200E8F-C09B-41FB-A00A-65917AF5E013}" type="parTrans" cxnId="{E0808D1F-F5D0-4682-AE18-724DA4E199F8}">
      <dgm:prSet/>
      <dgm:spPr/>
      <dgm:t>
        <a:bodyPr/>
        <a:lstStyle/>
        <a:p>
          <a:endParaRPr lang="en-US"/>
        </a:p>
      </dgm:t>
    </dgm:pt>
    <dgm:pt modelId="{BDAC309B-2A3B-417E-8D63-DECB5B3BEA1D}" type="sibTrans" cxnId="{E0808D1F-F5D0-4682-AE18-724DA4E199F8}">
      <dgm:prSet/>
      <dgm:spPr/>
      <dgm:t>
        <a:bodyPr/>
        <a:lstStyle/>
        <a:p>
          <a:endParaRPr lang="en-US"/>
        </a:p>
      </dgm:t>
    </dgm:pt>
    <dgm:pt modelId="{ECA8A8EE-6F68-42CB-83E1-92DC0F7CEC2A}">
      <dgm:prSet/>
      <dgm:spPr/>
      <dgm:t>
        <a:bodyPr/>
        <a:lstStyle/>
        <a:p>
          <a:pPr>
            <a:defRPr cap="all"/>
          </a:pPr>
          <a:r>
            <a:rPr lang="en-US" dirty="0"/>
            <a:t>• Pastries secondary</a:t>
          </a:r>
        </a:p>
      </dgm:t>
    </dgm:pt>
    <dgm:pt modelId="{FFD083D7-231A-43A4-A9F8-1FE78E1CA52B}" type="sibTrans" cxnId="{90B1246D-5370-462D-A965-DC6EF3A89E3A}">
      <dgm:prSet/>
      <dgm:spPr/>
      <dgm:t>
        <a:bodyPr/>
        <a:lstStyle/>
        <a:p>
          <a:endParaRPr lang="en-US"/>
        </a:p>
      </dgm:t>
    </dgm:pt>
    <dgm:pt modelId="{52321678-4D50-461F-8B9D-9F99FBB01A61}" type="parTrans" cxnId="{90B1246D-5370-462D-A965-DC6EF3A89E3A}">
      <dgm:prSet/>
      <dgm:spPr/>
      <dgm:t>
        <a:bodyPr/>
        <a:lstStyle/>
        <a:p>
          <a:endParaRPr lang="en-US"/>
        </a:p>
      </dgm:t>
    </dgm:pt>
    <dgm:pt modelId="{81025317-395B-478C-BCCC-18037C26569C}" type="pres">
      <dgm:prSet presAssocID="{0718D97B-36A0-45FF-8A47-3885F0800867}" presName="root" presStyleCnt="0">
        <dgm:presLayoutVars>
          <dgm:dir/>
          <dgm:resizeHandles val="exact"/>
        </dgm:presLayoutVars>
      </dgm:prSet>
      <dgm:spPr/>
    </dgm:pt>
    <dgm:pt modelId="{E186EB44-372B-462D-95AA-A0845ADC0DB2}" type="pres">
      <dgm:prSet presAssocID="{6476A4DF-8DAA-4CE6-8FC8-C5D8C24D5091}" presName="compNode" presStyleCnt="0"/>
      <dgm:spPr/>
    </dgm:pt>
    <dgm:pt modelId="{8628BC48-0F0F-4886-99C8-BE1771C4F451}" type="pres">
      <dgm:prSet presAssocID="{6476A4DF-8DAA-4CE6-8FC8-C5D8C24D5091}" presName="iconBgRect" presStyleLbl="bgShp" presStyleIdx="0" presStyleCnt="3"/>
      <dgm:spPr/>
    </dgm:pt>
    <dgm:pt modelId="{C21F7D97-C2FC-4D3B-8DBA-A28D70C24099}" type="pres">
      <dgm:prSet presAssocID="{6476A4DF-8DAA-4CE6-8FC8-C5D8C24D5091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ffee"/>
        </a:ext>
      </dgm:extLst>
    </dgm:pt>
    <dgm:pt modelId="{81029D13-F0B4-4F7D-9095-B39A7C314776}" type="pres">
      <dgm:prSet presAssocID="{6476A4DF-8DAA-4CE6-8FC8-C5D8C24D5091}" presName="spaceRect" presStyleCnt="0"/>
      <dgm:spPr/>
    </dgm:pt>
    <dgm:pt modelId="{2FB72DBC-0604-40D2-99AB-4775223E7A7C}" type="pres">
      <dgm:prSet presAssocID="{6476A4DF-8DAA-4CE6-8FC8-C5D8C24D5091}" presName="textRect" presStyleLbl="revTx" presStyleIdx="0" presStyleCnt="3">
        <dgm:presLayoutVars>
          <dgm:chMax val="1"/>
          <dgm:chPref val="1"/>
        </dgm:presLayoutVars>
      </dgm:prSet>
      <dgm:spPr/>
    </dgm:pt>
    <dgm:pt modelId="{622EB61F-10C2-4FD8-B8EF-3CAB84F79372}" type="pres">
      <dgm:prSet presAssocID="{AA944868-71B7-4DB8-9057-A596D86DDA51}" presName="sibTrans" presStyleCnt="0"/>
      <dgm:spPr/>
    </dgm:pt>
    <dgm:pt modelId="{ED6886A4-0B4E-40D7-AC1D-F3D53DC69D2D}" type="pres">
      <dgm:prSet presAssocID="{ECA8A8EE-6F68-42CB-83E1-92DC0F7CEC2A}" presName="compNode" presStyleCnt="0"/>
      <dgm:spPr/>
    </dgm:pt>
    <dgm:pt modelId="{5FE58220-B7AE-4E93-960B-8648CA442C7C}" type="pres">
      <dgm:prSet presAssocID="{ECA8A8EE-6F68-42CB-83E1-92DC0F7CEC2A}" presName="iconBgRect" presStyleLbl="bgShp" presStyleIdx="1" presStyleCnt="3"/>
      <dgm:spPr/>
    </dgm:pt>
    <dgm:pt modelId="{96A66DD1-1DAB-4E54-8423-50462767856E}" type="pres">
      <dgm:prSet presAssocID="{ECA8A8EE-6F68-42CB-83E1-92DC0F7CEC2A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6A564E8D-58DF-467F-9370-2880AD453108}" type="pres">
      <dgm:prSet presAssocID="{ECA8A8EE-6F68-42CB-83E1-92DC0F7CEC2A}" presName="spaceRect" presStyleCnt="0"/>
      <dgm:spPr/>
    </dgm:pt>
    <dgm:pt modelId="{22A52D30-2A36-4579-B6F4-C77D7CC7968F}" type="pres">
      <dgm:prSet presAssocID="{ECA8A8EE-6F68-42CB-83E1-92DC0F7CEC2A}" presName="textRect" presStyleLbl="revTx" presStyleIdx="1" presStyleCnt="3">
        <dgm:presLayoutVars>
          <dgm:chMax val="1"/>
          <dgm:chPref val="1"/>
        </dgm:presLayoutVars>
      </dgm:prSet>
      <dgm:spPr/>
    </dgm:pt>
    <dgm:pt modelId="{8AB68F29-80DF-4117-9A21-DCDF49322A23}" type="pres">
      <dgm:prSet presAssocID="{FFD083D7-231A-43A4-A9F8-1FE78E1CA52B}" presName="sibTrans" presStyleCnt="0"/>
      <dgm:spPr/>
    </dgm:pt>
    <dgm:pt modelId="{AC5EB5A4-0D95-4AC5-BEC7-4E74E155D91C}" type="pres">
      <dgm:prSet presAssocID="{B193E756-BF20-4D77-8266-F6D1ADA58B11}" presName="compNode" presStyleCnt="0"/>
      <dgm:spPr/>
    </dgm:pt>
    <dgm:pt modelId="{AFC38386-C220-4AC7-86D2-286200BA3954}" type="pres">
      <dgm:prSet presAssocID="{B193E756-BF20-4D77-8266-F6D1ADA58B11}" presName="iconBgRect" presStyleLbl="bgShp" presStyleIdx="2" presStyleCnt="3"/>
      <dgm:spPr/>
    </dgm:pt>
    <dgm:pt modelId="{063CA223-8BF0-4B6F-BD0D-C47F306349C3}" type="pres">
      <dgm:prSet presAssocID="{B193E756-BF20-4D77-8266-F6D1ADA58B11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tini"/>
        </a:ext>
      </dgm:extLst>
    </dgm:pt>
    <dgm:pt modelId="{F462A34F-8AE2-44B6-B3B1-903CF7640460}" type="pres">
      <dgm:prSet presAssocID="{B193E756-BF20-4D77-8266-F6D1ADA58B11}" presName="spaceRect" presStyleCnt="0"/>
      <dgm:spPr/>
    </dgm:pt>
    <dgm:pt modelId="{67C44CE8-B7B5-4BE4-B746-ED555C94FF9E}" type="pres">
      <dgm:prSet presAssocID="{B193E756-BF20-4D77-8266-F6D1ADA58B1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0808D1F-F5D0-4682-AE18-724DA4E199F8}" srcId="{0718D97B-36A0-45FF-8A47-3885F0800867}" destId="{B193E756-BF20-4D77-8266-F6D1ADA58B11}" srcOrd="2" destOrd="0" parTransId="{E7200E8F-C09B-41FB-A00A-65917AF5E013}" sibTransId="{BDAC309B-2A3B-417E-8D63-DECB5B3BEA1D}"/>
    <dgm:cxn modelId="{90B1246D-5370-462D-A965-DC6EF3A89E3A}" srcId="{0718D97B-36A0-45FF-8A47-3885F0800867}" destId="{ECA8A8EE-6F68-42CB-83E1-92DC0F7CEC2A}" srcOrd="1" destOrd="0" parTransId="{52321678-4D50-461F-8B9D-9F99FBB01A61}" sibTransId="{FFD083D7-231A-43A4-A9F8-1FE78E1CA52B}"/>
    <dgm:cxn modelId="{96A0C04F-7F68-4715-9FFC-B02204604D34}" srcId="{0718D97B-36A0-45FF-8A47-3885F0800867}" destId="{6476A4DF-8DAA-4CE6-8FC8-C5D8C24D5091}" srcOrd="0" destOrd="0" parTransId="{B614D7A3-706D-44AF-B455-06B84F40C527}" sibTransId="{AA944868-71B7-4DB8-9057-A596D86DDA51}"/>
    <dgm:cxn modelId="{D67FDC71-DCBD-4FA7-8A29-140E23BF9214}" type="presOf" srcId="{0718D97B-36A0-45FF-8A47-3885F0800867}" destId="{81025317-395B-478C-BCCC-18037C26569C}" srcOrd="0" destOrd="0" presId="urn:microsoft.com/office/officeart/2018/5/layout/IconCircleLabelList"/>
    <dgm:cxn modelId="{5715355A-C398-43E4-873F-2B494868D314}" type="presOf" srcId="{6476A4DF-8DAA-4CE6-8FC8-C5D8C24D5091}" destId="{2FB72DBC-0604-40D2-99AB-4775223E7A7C}" srcOrd="0" destOrd="0" presId="urn:microsoft.com/office/officeart/2018/5/layout/IconCircleLabelList"/>
    <dgm:cxn modelId="{4F0DAE93-9D4F-4709-A06F-CD8B5895D144}" type="presOf" srcId="{ECA8A8EE-6F68-42CB-83E1-92DC0F7CEC2A}" destId="{22A52D30-2A36-4579-B6F4-C77D7CC7968F}" srcOrd="0" destOrd="0" presId="urn:microsoft.com/office/officeart/2018/5/layout/IconCircleLabelList"/>
    <dgm:cxn modelId="{4844A4AF-813B-44F2-9599-B6AA389D59B8}" type="presOf" srcId="{B193E756-BF20-4D77-8266-F6D1ADA58B11}" destId="{67C44CE8-B7B5-4BE4-B746-ED555C94FF9E}" srcOrd="0" destOrd="0" presId="urn:microsoft.com/office/officeart/2018/5/layout/IconCircleLabelList"/>
    <dgm:cxn modelId="{7661267F-7EB1-4010-8CCE-1A42F3863A35}" type="presParOf" srcId="{81025317-395B-478C-BCCC-18037C26569C}" destId="{E186EB44-372B-462D-95AA-A0845ADC0DB2}" srcOrd="0" destOrd="0" presId="urn:microsoft.com/office/officeart/2018/5/layout/IconCircleLabelList"/>
    <dgm:cxn modelId="{4047E534-96D8-4943-BED3-36EDE492C1FA}" type="presParOf" srcId="{E186EB44-372B-462D-95AA-A0845ADC0DB2}" destId="{8628BC48-0F0F-4886-99C8-BE1771C4F451}" srcOrd="0" destOrd="0" presId="urn:microsoft.com/office/officeart/2018/5/layout/IconCircleLabelList"/>
    <dgm:cxn modelId="{04E4190F-86D4-4E36-ABA2-0064942AB8B1}" type="presParOf" srcId="{E186EB44-372B-462D-95AA-A0845ADC0DB2}" destId="{C21F7D97-C2FC-4D3B-8DBA-A28D70C24099}" srcOrd="1" destOrd="0" presId="urn:microsoft.com/office/officeart/2018/5/layout/IconCircleLabelList"/>
    <dgm:cxn modelId="{0CE29EFB-679B-443E-85A9-653E48B53FFB}" type="presParOf" srcId="{E186EB44-372B-462D-95AA-A0845ADC0DB2}" destId="{81029D13-F0B4-4F7D-9095-B39A7C314776}" srcOrd="2" destOrd="0" presId="urn:microsoft.com/office/officeart/2018/5/layout/IconCircleLabelList"/>
    <dgm:cxn modelId="{A256E156-9369-439C-9937-B86E15424181}" type="presParOf" srcId="{E186EB44-372B-462D-95AA-A0845ADC0DB2}" destId="{2FB72DBC-0604-40D2-99AB-4775223E7A7C}" srcOrd="3" destOrd="0" presId="urn:microsoft.com/office/officeart/2018/5/layout/IconCircleLabelList"/>
    <dgm:cxn modelId="{3194E365-32C0-4A43-828E-B7B6A7F4F3E9}" type="presParOf" srcId="{81025317-395B-478C-BCCC-18037C26569C}" destId="{622EB61F-10C2-4FD8-B8EF-3CAB84F79372}" srcOrd="1" destOrd="0" presId="urn:microsoft.com/office/officeart/2018/5/layout/IconCircleLabelList"/>
    <dgm:cxn modelId="{F46D6D2F-E3B6-4A1C-AEBB-6697C9C12CCF}" type="presParOf" srcId="{81025317-395B-478C-BCCC-18037C26569C}" destId="{ED6886A4-0B4E-40D7-AC1D-F3D53DC69D2D}" srcOrd="2" destOrd="0" presId="urn:microsoft.com/office/officeart/2018/5/layout/IconCircleLabelList"/>
    <dgm:cxn modelId="{211925FC-A550-4195-BC6C-A8C14486C9A6}" type="presParOf" srcId="{ED6886A4-0B4E-40D7-AC1D-F3D53DC69D2D}" destId="{5FE58220-B7AE-4E93-960B-8648CA442C7C}" srcOrd="0" destOrd="0" presId="urn:microsoft.com/office/officeart/2018/5/layout/IconCircleLabelList"/>
    <dgm:cxn modelId="{DC20C6E7-1F16-45C6-BF3C-F0E332B01594}" type="presParOf" srcId="{ED6886A4-0B4E-40D7-AC1D-F3D53DC69D2D}" destId="{96A66DD1-1DAB-4E54-8423-50462767856E}" srcOrd="1" destOrd="0" presId="urn:microsoft.com/office/officeart/2018/5/layout/IconCircleLabelList"/>
    <dgm:cxn modelId="{2B9AA480-E304-4ECA-ACA9-E1D715D485B7}" type="presParOf" srcId="{ED6886A4-0B4E-40D7-AC1D-F3D53DC69D2D}" destId="{6A564E8D-58DF-467F-9370-2880AD453108}" srcOrd="2" destOrd="0" presId="urn:microsoft.com/office/officeart/2018/5/layout/IconCircleLabelList"/>
    <dgm:cxn modelId="{00839A72-3627-413E-A361-FDF51F5D816C}" type="presParOf" srcId="{ED6886A4-0B4E-40D7-AC1D-F3D53DC69D2D}" destId="{22A52D30-2A36-4579-B6F4-C77D7CC7968F}" srcOrd="3" destOrd="0" presId="urn:microsoft.com/office/officeart/2018/5/layout/IconCircleLabelList"/>
    <dgm:cxn modelId="{873E4FD8-9205-49B4-9075-565594C8DDA4}" type="presParOf" srcId="{81025317-395B-478C-BCCC-18037C26569C}" destId="{8AB68F29-80DF-4117-9A21-DCDF49322A23}" srcOrd="3" destOrd="0" presId="urn:microsoft.com/office/officeart/2018/5/layout/IconCircleLabelList"/>
    <dgm:cxn modelId="{9ECC664B-F7BA-40AC-BEC8-7C9BE7B50954}" type="presParOf" srcId="{81025317-395B-478C-BCCC-18037C26569C}" destId="{AC5EB5A4-0D95-4AC5-BEC7-4E74E155D91C}" srcOrd="4" destOrd="0" presId="urn:microsoft.com/office/officeart/2018/5/layout/IconCircleLabelList"/>
    <dgm:cxn modelId="{E4DC4FA9-38F9-48B3-8C67-9D1FD5B8A357}" type="presParOf" srcId="{AC5EB5A4-0D95-4AC5-BEC7-4E74E155D91C}" destId="{AFC38386-C220-4AC7-86D2-286200BA3954}" srcOrd="0" destOrd="0" presId="urn:microsoft.com/office/officeart/2018/5/layout/IconCircleLabelList"/>
    <dgm:cxn modelId="{8BFCBF72-6AC4-4638-A781-D9A2D0DDDBDA}" type="presParOf" srcId="{AC5EB5A4-0D95-4AC5-BEC7-4E74E155D91C}" destId="{063CA223-8BF0-4B6F-BD0D-C47F306349C3}" srcOrd="1" destOrd="0" presId="urn:microsoft.com/office/officeart/2018/5/layout/IconCircleLabelList"/>
    <dgm:cxn modelId="{04A1A304-9D1F-4C19-858D-40C956F7091F}" type="presParOf" srcId="{AC5EB5A4-0D95-4AC5-BEC7-4E74E155D91C}" destId="{F462A34F-8AE2-44B6-B3B1-903CF7640460}" srcOrd="2" destOrd="0" presId="urn:microsoft.com/office/officeart/2018/5/layout/IconCircleLabelList"/>
    <dgm:cxn modelId="{4CDA61FC-FDBF-4C08-B1AE-D03B9BD4BF62}" type="presParOf" srcId="{AC5EB5A4-0D95-4AC5-BEC7-4E74E155D91C}" destId="{67C44CE8-B7B5-4BE4-B746-ED555C94FF9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28BC48-0F0F-4886-99C8-BE1771C4F451}">
      <dsp:nvSpPr>
        <dsp:cNvPr id="0" name=""/>
        <dsp:cNvSpPr/>
      </dsp:nvSpPr>
      <dsp:spPr>
        <a:xfrm>
          <a:off x="198941" y="235447"/>
          <a:ext cx="621914" cy="62191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1F7D97-C2FC-4D3B-8DBA-A28D70C24099}">
      <dsp:nvSpPr>
        <dsp:cNvPr id="0" name=""/>
        <dsp:cNvSpPr/>
      </dsp:nvSpPr>
      <dsp:spPr>
        <a:xfrm>
          <a:off x="331480" y="367986"/>
          <a:ext cx="356835" cy="35683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B72DBC-0604-40D2-99AB-4775223E7A7C}">
      <dsp:nvSpPr>
        <dsp:cNvPr id="0" name=""/>
        <dsp:cNvSpPr/>
      </dsp:nvSpPr>
      <dsp:spPr>
        <a:xfrm>
          <a:off x="133" y="1051072"/>
          <a:ext cx="1019531" cy="407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• Coffee dominates sales</a:t>
          </a:r>
        </a:p>
      </dsp:txBody>
      <dsp:txXfrm>
        <a:off x="133" y="1051072"/>
        <a:ext cx="1019531" cy="407812"/>
      </dsp:txXfrm>
    </dsp:sp>
    <dsp:sp modelId="{5FE58220-B7AE-4E93-960B-8648CA442C7C}">
      <dsp:nvSpPr>
        <dsp:cNvPr id="0" name=""/>
        <dsp:cNvSpPr/>
      </dsp:nvSpPr>
      <dsp:spPr>
        <a:xfrm>
          <a:off x="1396890" y="235447"/>
          <a:ext cx="621914" cy="62191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A66DD1-1DAB-4E54-8423-50462767856E}">
      <dsp:nvSpPr>
        <dsp:cNvPr id="0" name=""/>
        <dsp:cNvSpPr/>
      </dsp:nvSpPr>
      <dsp:spPr>
        <a:xfrm>
          <a:off x="1529430" y="367986"/>
          <a:ext cx="356835" cy="35683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A52D30-2A36-4579-B6F4-C77D7CC7968F}">
      <dsp:nvSpPr>
        <dsp:cNvPr id="0" name=""/>
        <dsp:cNvSpPr/>
      </dsp:nvSpPr>
      <dsp:spPr>
        <a:xfrm>
          <a:off x="1198082" y="1051072"/>
          <a:ext cx="1019531" cy="407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• Pastries secondary</a:t>
          </a:r>
        </a:p>
      </dsp:txBody>
      <dsp:txXfrm>
        <a:off x="1198082" y="1051072"/>
        <a:ext cx="1019531" cy="407812"/>
      </dsp:txXfrm>
    </dsp:sp>
    <dsp:sp modelId="{AFC38386-C220-4AC7-86D2-286200BA3954}">
      <dsp:nvSpPr>
        <dsp:cNvPr id="0" name=""/>
        <dsp:cNvSpPr/>
      </dsp:nvSpPr>
      <dsp:spPr>
        <a:xfrm>
          <a:off x="2594840" y="235447"/>
          <a:ext cx="621914" cy="62191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3CA223-8BF0-4B6F-BD0D-C47F306349C3}">
      <dsp:nvSpPr>
        <dsp:cNvPr id="0" name=""/>
        <dsp:cNvSpPr/>
      </dsp:nvSpPr>
      <dsp:spPr>
        <a:xfrm>
          <a:off x="2727379" y="367986"/>
          <a:ext cx="356835" cy="35683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C44CE8-B7B5-4BE4-B746-ED555C94FF9E}">
      <dsp:nvSpPr>
        <dsp:cNvPr id="0" name=""/>
        <dsp:cNvSpPr/>
      </dsp:nvSpPr>
      <dsp:spPr>
        <a:xfrm>
          <a:off x="2396031" y="1051072"/>
          <a:ext cx="1019531" cy="407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• Beverages perform consistently</a:t>
          </a:r>
        </a:p>
      </dsp:txBody>
      <dsp:txXfrm>
        <a:off x="2396031" y="1051072"/>
        <a:ext cx="1019531" cy="4078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279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3239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1845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607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316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438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114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4323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2519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128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71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709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8A5C4B-7871-EB99-D4A8-8B4239F7F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535" y="182270"/>
            <a:ext cx="8193678" cy="54624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Improve revenue and product performance</a:t>
            </a:r>
          </a:p>
          <a:p>
            <a:r>
              <a:rPr dirty="0"/>
              <a:t>Analyze sales data</a:t>
            </a:r>
          </a:p>
          <a:p>
            <a:r>
              <a:rPr dirty="0"/>
              <a:t> Identify top products</a:t>
            </a:r>
          </a:p>
          <a:p>
            <a:r>
              <a:rPr dirty="0"/>
              <a:t> Understand customer behavior</a:t>
            </a:r>
          </a:p>
          <a:p>
            <a:pPr marL="0" indent="0">
              <a:buNone/>
            </a:pPr>
            <a:r>
              <a:rPr dirty="0"/>
              <a:t>• Support CEO decision-making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928" y="89922"/>
            <a:ext cx="3892393" cy="1058003"/>
          </a:xfrm>
        </p:spPr>
        <p:txBody>
          <a:bodyPr anchor="t">
            <a:normAutofit/>
          </a:bodyPr>
          <a:lstStyle/>
          <a:p>
            <a:pPr algn="ctr"/>
            <a:r>
              <a:rPr lang="en-US" dirty="0"/>
              <a:t>Monthly insights</a:t>
            </a:r>
            <a:endParaRPr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2146542"/>
            <a:ext cx="245407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685" y="3122496"/>
            <a:ext cx="264761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2768EDB-47BD-E566-1049-4E1CCEDF5497}"/>
              </a:ext>
            </a:extLst>
          </p:cNvPr>
          <p:cNvSpPr txBox="1"/>
          <p:nvPr/>
        </p:nvSpPr>
        <p:spPr>
          <a:xfrm>
            <a:off x="157315" y="4232747"/>
            <a:ext cx="88785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/>
              <a:t>Key Insight</a:t>
            </a:r>
          </a:p>
          <a:p>
            <a:r>
              <a:rPr lang="en-US" sz="1200" dirty="0"/>
              <a:t>Sales show a strong upward trend from January to June </a:t>
            </a:r>
            <a:r>
              <a:rPr lang="en-US" sz="1200" b="1" dirty="0"/>
              <a:t>from (12% to 24%).</a:t>
            </a:r>
          </a:p>
          <a:p>
            <a:r>
              <a:rPr lang="en-US" sz="1200" dirty="0"/>
              <a:t>June is our top-performing month with </a:t>
            </a:r>
            <a:r>
              <a:rPr lang="en-US" sz="1200" b="1" dirty="0"/>
              <a:t>24% revenue</a:t>
            </a:r>
            <a:r>
              <a:rPr lang="en-US" sz="1200" dirty="0"/>
              <a:t>, followed closely by May with </a:t>
            </a:r>
            <a:r>
              <a:rPr lang="en-US" sz="1200" b="1" dirty="0"/>
              <a:t>23% revenue.</a:t>
            </a:r>
          </a:p>
          <a:p>
            <a:r>
              <a:rPr lang="en-US" sz="1200" dirty="0"/>
              <a:t>Mid-Morning period delivered the strongest performance.</a:t>
            </a:r>
            <a:endParaRPr lang="en-ZA" sz="1200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D7836FE3-DCC1-CE5F-5C82-71E9D2672A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263549" y="13547"/>
            <a:ext cx="4800363" cy="410594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9B486DB-DD69-8331-3EAA-DAA2C0DA5E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88" y="1270043"/>
            <a:ext cx="4103601" cy="28614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1179" y="148263"/>
            <a:ext cx="3441801" cy="568620"/>
          </a:xfrm>
        </p:spPr>
        <p:txBody>
          <a:bodyPr anchor="t">
            <a:normAutofit fontScale="90000"/>
          </a:bodyPr>
          <a:lstStyle/>
          <a:p>
            <a:r>
              <a:rPr lang="en-ZA" sz="1800" b="1" dirty="0"/>
              <a:t>Monthly product  trends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2146542"/>
            <a:ext cx="245407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685" y="3122496"/>
            <a:ext cx="264761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DFF03F3-AB9C-7C91-802E-34AD697813D8}"/>
              </a:ext>
            </a:extLst>
          </p:cNvPr>
          <p:cNvSpPr txBox="1"/>
          <p:nvPr/>
        </p:nvSpPr>
        <p:spPr>
          <a:xfrm>
            <a:off x="190143" y="4072446"/>
            <a:ext cx="8829368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400" b="1" dirty="0"/>
              <a:t>Key Insight</a:t>
            </a:r>
          </a:p>
          <a:p>
            <a:r>
              <a:rPr lang="en-US" sz="1200" dirty="0"/>
              <a:t>Coffee consistently leads all products in revenue generating </a:t>
            </a:r>
            <a:r>
              <a:rPr lang="en-US" sz="1200" b="1" dirty="0"/>
              <a:t>39.2% </a:t>
            </a:r>
            <a:r>
              <a:rPr lang="en-US" sz="1200" dirty="0"/>
              <a:t>showing strong and steady growth from January to June., Tea comes behind at </a:t>
            </a:r>
            <a:r>
              <a:rPr lang="en-US" sz="1200" b="1" dirty="0"/>
              <a:t>30,1% revenue.</a:t>
            </a:r>
          </a:p>
          <a:p>
            <a:r>
              <a:rPr lang="en-US" sz="1200" dirty="0"/>
              <a:t>Loose tea, flavours, packaged chocolate are our bottom 3 performing products contribute a combined </a:t>
            </a:r>
            <a:r>
              <a:rPr lang="en-US" sz="1200" b="1" dirty="0"/>
              <a:t>3.4% of monthly revenue </a:t>
            </a:r>
            <a:r>
              <a:rPr lang="en-US" sz="1200" dirty="0"/>
              <a:t>across all months.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634523-ED3C-BD22-10AC-7F88B9C46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457" y="688839"/>
            <a:ext cx="6285738" cy="33721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514" y="160966"/>
            <a:ext cx="6443237" cy="766137"/>
          </a:xfrm>
        </p:spPr>
        <p:txBody>
          <a:bodyPr anchor="t">
            <a:normAutofit/>
          </a:bodyPr>
          <a:lstStyle/>
          <a:p>
            <a:r>
              <a:rPr sz="1800" dirty="0"/>
              <a:t>Sales by Product </a:t>
            </a:r>
            <a:r>
              <a:rPr lang="en-US" sz="1800" dirty="0"/>
              <a:t>Category</a:t>
            </a:r>
            <a:endParaRPr sz="18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2146542"/>
            <a:ext cx="245407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685" y="3122496"/>
            <a:ext cx="264761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A76D531-D5A8-9B3C-0FC3-566B023019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0161376"/>
              </p:ext>
            </p:extLst>
          </p:nvPr>
        </p:nvGraphicFramePr>
        <p:xfrm>
          <a:off x="408201" y="544034"/>
          <a:ext cx="3415696" cy="16943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06A5339B-4DF3-CF09-9529-65399A4C2A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38132" y="754446"/>
            <a:ext cx="4227460" cy="28206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84A6A9-0F6F-5A9B-B6B8-D5976B79475B}"/>
              </a:ext>
            </a:extLst>
          </p:cNvPr>
          <p:cNvSpPr txBox="1"/>
          <p:nvPr/>
        </p:nvSpPr>
        <p:spPr>
          <a:xfrm>
            <a:off x="408201" y="3922776"/>
            <a:ext cx="8443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200" b="1" dirty="0"/>
              <a:t>Key Insight</a:t>
            </a:r>
          </a:p>
          <a:p>
            <a:r>
              <a:rPr lang="en-US" sz="1200" dirty="0"/>
              <a:t>Sales are heavily concentrated in a few high-performing product types, with Coffee (88,097.2),  Bakery (79,681.5), and Tea (63,320.7) leading total revenue. This indicates a strong customer preference for premium and specialty beverages</a:t>
            </a:r>
            <a:endParaRPr lang="en-ZA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93C67-5E44-E948-1F0B-DDC43A970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104" y="279902"/>
            <a:ext cx="8676573" cy="840975"/>
          </a:xfrm>
        </p:spPr>
        <p:txBody>
          <a:bodyPr>
            <a:noAutofit/>
          </a:bodyPr>
          <a:lstStyle/>
          <a:p>
            <a:r>
              <a:rPr lang="en-US" sz="2400" b="1" dirty="0"/>
              <a:t>Weekdays &amp; Time segment Trends Per Stores</a:t>
            </a:r>
            <a:endParaRPr lang="en-ZA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5936C8-EF74-C993-6D23-BAFBEFBC7D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372" y="1250479"/>
            <a:ext cx="4198984" cy="28489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1A69E1-B9B9-6D91-4A6F-8DC27D6540A9}"/>
              </a:ext>
            </a:extLst>
          </p:cNvPr>
          <p:cNvSpPr txBox="1"/>
          <p:nvPr/>
        </p:nvSpPr>
        <p:spPr>
          <a:xfrm>
            <a:off x="234447" y="4407192"/>
            <a:ext cx="823891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200" b="1" dirty="0"/>
              <a:t>Key Insight</a:t>
            </a:r>
          </a:p>
          <a:p>
            <a:r>
              <a:rPr lang="en-US" sz="1200" dirty="0"/>
              <a:t>Monday and Friday are the top performing weekdays ranged between </a:t>
            </a:r>
            <a:r>
              <a:rPr lang="en-US" sz="1200" b="1" dirty="0"/>
              <a:t>14.5% to 14,6% </a:t>
            </a:r>
            <a:r>
              <a:rPr lang="en-US" sz="1200" dirty="0"/>
              <a:t>with Lower Manhattan leading on Monday </a:t>
            </a:r>
            <a:r>
              <a:rPr lang="en-US" sz="1200" b="1" dirty="0"/>
              <a:t>(4.9%) </a:t>
            </a:r>
            <a:r>
              <a:rPr lang="en-US" sz="1200" dirty="0"/>
              <a:t>and Hell's Kitchen leading on Friday </a:t>
            </a:r>
            <a:r>
              <a:rPr lang="en-US" sz="1200" b="1" dirty="0"/>
              <a:t>(5.0%).</a:t>
            </a:r>
          </a:p>
          <a:p>
            <a:r>
              <a:rPr lang="en-US" sz="1200" dirty="0"/>
              <a:t>Sales are slightly lower across all stores on weekend ranged between </a:t>
            </a:r>
            <a:r>
              <a:rPr lang="en-US" sz="1200" b="1" dirty="0"/>
              <a:t>4.6% to 4.8% </a:t>
            </a:r>
            <a:r>
              <a:rPr lang="en-US" sz="1200" dirty="0"/>
              <a:t>.</a:t>
            </a:r>
          </a:p>
          <a:p>
            <a:r>
              <a:rPr lang="en-US" sz="1200" dirty="0"/>
              <a:t>All Store performance peaks during the morning drive, Lower Manhattan leading at </a:t>
            </a:r>
            <a:r>
              <a:rPr lang="en-US" sz="1200" b="1" dirty="0"/>
              <a:t>12.01%</a:t>
            </a:r>
            <a:r>
              <a:rPr lang="en-US" sz="1200" dirty="0"/>
              <a:t>, followed closely by Hell’s Kitchen at </a:t>
            </a:r>
            <a:r>
              <a:rPr lang="en-US" sz="1200" b="1" dirty="0"/>
              <a:t>00%.</a:t>
            </a:r>
          </a:p>
          <a:p>
            <a:r>
              <a:rPr lang="en-US" sz="1200" dirty="0"/>
              <a:t>Rush-Hour and Night hours across all stores, indicating inactive operating hours contributing </a:t>
            </a:r>
            <a:r>
              <a:rPr lang="en-US" sz="1200" b="1" dirty="0"/>
              <a:t>15%</a:t>
            </a:r>
            <a:endParaRPr lang="en-ZA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740B61-C0AD-1992-BA93-CA6F8ECF63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088" y="1250478"/>
            <a:ext cx="4550280" cy="2848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21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9902"/>
            <a:ext cx="6571343" cy="1049235"/>
          </a:xfrm>
        </p:spPr>
        <p:txBody>
          <a:bodyPr/>
          <a:lstStyle/>
          <a:p>
            <a:pPr algn="ctr"/>
            <a:r>
              <a:rPr dirty="0"/>
              <a:t>Top </a:t>
            </a:r>
            <a:r>
              <a:rPr lang="en-US" dirty="0"/>
              <a:t>5 </a:t>
            </a:r>
            <a:r>
              <a:rPr dirty="0"/>
              <a:t>Selling Products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741" y="982056"/>
            <a:ext cx="2205201" cy="2706209"/>
          </a:xfrm>
        </p:spPr>
        <p:txBody>
          <a:bodyPr>
            <a:noAutofit/>
          </a:bodyPr>
          <a:lstStyle/>
          <a:p>
            <a:r>
              <a:rPr lang="en-US" dirty="0"/>
              <a:t>Coffee</a:t>
            </a:r>
          </a:p>
          <a:p>
            <a:r>
              <a:rPr lang="en-US" dirty="0"/>
              <a:t>Tea </a:t>
            </a:r>
            <a:endParaRPr dirty="0"/>
          </a:p>
          <a:p>
            <a:r>
              <a:rPr lang="en-US" dirty="0"/>
              <a:t>Bakey</a:t>
            </a:r>
          </a:p>
          <a:p>
            <a:r>
              <a:rPr lang="en-US" dirty="0"/>
              <a:t>Drinking Chocolate</a:t>
            </a:r>
          </a:p>
          <a:p>
            <a:r>
              <a:rPr lang="en-US" dirty="0"/>
              <a:t>Coffee beans</a:t>
            </a:r>
            <a:r>
              <a:rPr dirty="0"/>
              <a:t> </a:t>
            </a:r>
            <a:r>
              <a:rPr lang="en-US" dirty="0"/>
              <a:t> 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50A3CE-C800-A3E4-7843-312CC1AD2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516" y="1205132"/>
            <a:ext cx="5519600" cy="31937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D30A981-E717-A7E9-71F3-BC70DFDC9F0D}"/>
              </a:ext>
            </a:extLst>
          </p:cNvPr>
          <p:cNvSpPr txBox="1"/>
          <p:nvPr/>
        </p:nvSpPr>
        <p:spPr>
          <a:xfrm>
            <a:off x="609600" y="4522839"/>
            <a:ext cx="82001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/>
              <a:t>Key Insight</a:t>
            </a:r>
          </a:p>
          <a:p>
            <a:r>
              <a:rPr lang="en-US" sz="1200" dirty="0"/>
              <a:t>Sales are heavily driven by coffee and tea, contributing over 70% of revenue. While this shows strong performance in core products, it also highlights an opportunity to grow our secondary categories through targeted promotions and bundling strategies.</a:t>
            </a:r>
            <a:endParaRPr lang="en-ZA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7804FF-DFF2-5060-1D24-B079FAB2CDF0}"/>
              </a:ext>
            </a:extLst>
          </p:cNvPr>
          <p:cNvSpPr txBox="1"/>
          <p:nvPr/>
        </p:nvSpPr>
        <p:spPr>
          <a:xfrm>
            <a:off x="1445342" y="1604805"/>
            <a:ext cx="1117174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endParaRPr lang="en-ZA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Store </a:t>
            </a:r>
            <a:r>
              <a:rPr lang="en-US" dirty="0"/>
              <a:t>LOCATION TRENDS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6C80B8-044C-7971-A0C7-5D1CFE0BD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376" y="1713981"/>
            <a:ext cx="3871295" cy="24193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00E2BD-C020-FB64-C0BC-210EBCB72430}"/>
              </a:ext>
            </a:extLst>
          </p:cNvPr>
          <p:cNvSpPr txBox="1"/>
          <p:nvPr/>
        </p:nvSpPr>
        <p:spPr>
          <a:xfrm>
            <a:off x="542376" y="4343800"/>
            <a:ext cx="7882128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1" dirty="0"/>
              <a:t>Key Insight</a:t>
            </a:r>
          </a:p>
          <a:p>
            <a:pPr algn="just"/>
            <a:r>
              <a:rPr lang="en-US" sz="1200" dirty="0"/>
              <a:t>Hell's Kitchen leads in total revenue makes it our top store holding 34%, followed by Astoria at 33% total revenue.</a:t>
            </a:r>
          </a:p>
          <a:p>
            <a:pPr algn="just"/>
            <a:r>
              <a:rPr lang="en-US" sz="1200" dirty="0"/>
              <a:t>Coffee is the top-seller in all locations, Hell’s Kitchen leads in coffee revenue contributing 13.1%, Astoria follows closely with 12.8% revenue.</a:t>
            </a:r>
          </a:p>
          <a:p>
            <a:pPr algn="just"/>
            <a:r>
              <a:rPr lang="en-US" sz="1200" dirty="0"/>
              <a:t>Tea ranks second, making up 28.1% of total sales, Astoria leads in tea revenue contributing 9.7% .</a:t>
            </a:r>
          </a:p>
          <a:p>
            <a:pPr algn="just"/>
            <a:r>
              <a:rPr lang="en-US" sz="1200" dirty="0"/>
              <a:t>Loose Tea, Flavours, and Packaged Chocolate have low sales, contributing just 3.4% of total sales across all store.</a:t>
            </a:r>
            <a:endParaRPr lang="en-ZA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0F51D4-D907-2A0C-0440-83BB47BB0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0329" y="1713981"/>
            <a:ext cx="3871295" cy="245230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36781" y="0"/>
            <a:ext cx="6571343" cy="1049235"/>
          </a:xfrm>
        </p:spPr>
        <p:txBody>
          <a:bodyPr/>
          <a:lstStyle/>
          <a:p>
            <a:r>
              <a:rPr lang="en-ZA" dirty="0"/>
              <a:t>Peak Sales Time Analysis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FC2A40-066F-CB04-3E90-7F7478EB6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781" y="524617"/>
            <a:ext cx="5839783" cy="356554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2C9C20D-CCF3-EE98-94AF-F2A3EEBE29EB}"/>
              </a:ext>
            </a:extLst>
          </p:cNvPr>
          <p:cNvSpPr txBox="1"/>
          <p:nvPr/>
        </p:nvSpPr>
        <p:spPr>
          <a:xfrm>
            <a:off x="648929" y="4090161"/>
            <a:ext cx="8495071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Insights</a:t>
            </a:r>
          </a:p>
          <a:p>
            <a:pPr algn="just"/>
            <a:r>
              <a:rPr lang="en-US" sz="1200" dirty="0"/>
              <a:t>Sales are heavily concentrated in Mid-Morning and driven by Low Spenders</a:t>
            </a:r>
          </a:p>
          <a:p>
            <a:pPr algn="just"/>
            <a:r>
              <a:rPr lang="en-US" sz="1200" dirty="0"/>
              <a:t>Mid-Morning contributes the highest share (31%)</a:t>
            </a:r>
          </a:p>
          <a:p>
            <a:pPr algn="just"/>
            <a:r>
              <a:rPr lang="en-US" sz="1200" dirty="0"/>
              <a:t>Afternoon (29%) and Morning Rush (24%) follow closely</a:t>
            </a:r>
          </a:p>
          <a:p>
            <a:pPr algn="just"/>
            <a:r>
              <a:rPr lang="en-US" sz="1200" dirty="0"/>
              <a:t>Low Spenders dominate nearly 100% of sales activity</a:t>
            </a:r>
          </a:p>
          <a:p>
            <a:pPr algn="just"/>
            <a:r>
              <a:rPr lang="en-US" sz="1200" dirty="0"/>
              <a:t>Night shows zero engagement across all segments</a:t>
            </a:r>
            <a:endParaRPr lang="en-ZA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AF831-4537-A6F9-0FE1-45B76E493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9530" y="1"/>
            <a:ext cx="6571343" cy="544142"/>
          </a:xfrm>
        </p:spPr>
        <p:txBody>
          <a:bodyPr/>
          <a:lstStyle/>
          <a:p>
            <a:r>
              <a:rPr lang="en-ZA" dirty="0"/>
              <a:t>Recommendations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E874E2B-3327-3058-D229-510C0FAF873A}"/>
              </a:ext>
            </a:extLst>
          </p:cNvPr>
          <p:cNvSpPr/>
          <p:nvPr/>
        </p:nvSpPr>
        <p:spPr>
          <a:xfrm>
            <a:off x="334297" y="484177"/>
            <a:ext cx="8534399" cy="1504457"/>
          </a:xfrm>
          <a:prstGeom prst="roundRect">
            <a:avLst>
              <a:gd name="adj" fmla="val 10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lvl="0">
              <a:lnSpc>
                <a:spcPct val="100000"/>
              </a:lnSpc>
            </a:pPr>
            <a:r>
              <a:rPr lang="en-US" dirty="0"/>
              <a:t>        </a:t>
            </a:r>
            <a:r>
              <a:rPr lang="en-ZA" dirty="0"/>
              <a:t>☕.</a:t>
            </a:r>
            <a:r>
              <a:rPr lang="en-ZA" b="1" dirty="0"/>
              <a:t>Product Optimization</a:t>
            </a:r>
          </a:p>
          <a:p>
            <a:pPr lvl="0">
              <a:lnSpc>
                <a:spcPct val="100000"/>
              </a:lnSpc>
            </a:pPr>
            <a:r>
              <a:rPr lang="en-ZA" sz="1400" dirty="0"/>
              <a:t>         </a:t>
            </a:r>
            <a:r>
              <a:rPr lang="en-ZA" sz="1200" dirty="0"/>
              <a:t>   </a:t>
            </a:r>
            <a:r>
              <a:rPr lang="en-US" sz="1200" dirty="0"/>
              <a:t>Increase stock levels of </a:t>
            </a:r>
            <a:r>
              <a:rPr lang="en-US" sz="1200" b="1" dirty="0"/>
              <a:t>top-performing products</a:t>
            </a:r>
            <a:r>
              <a:rPr lang="en-US" sz="1200" dirty="0"/>
              <a:t> to avoid stockouts during peak hours   </a:t>
            </a:r>
          </a:p>
          <a:p>
            <a:pPr lvl="0">
              <a:lnSpc>
                <a:spcPct val="100000"/>
              </a:lnSpc>
            </a:pPr>
            <a:r>
              <a:rPr lang="en-US" sz="1200" dirty="0"/>
              <a:t>             Position these items prominently (menu boards, counter displays)</a:t>
            </a:r>
          </a:p>
          <a:p>
            <a:pPr lvl="0">
              <a:lnSpc>
                <a:spcPct val="100000"/>
              </a:lnSpc>
            </a:pPr>
            <a:r>
              <a:rPr lang="en-US" sz="1200" dirty="0"/>
              <a:t>             Create </a:t>
            </a:r>
            <a:r>
              <a:rPr lang="en-US" sz="1200" b="1" dirty="0"/>
              <a:t>premium versions or upsells</a:t>
            </a:r>
            <a:r>
              <a:rPr lang="en-US" sz="1200" dirty="0"/>
              <a:t> (e.g., larger sizes, add-ons like extra shots or flavors</a:t>
            </a:r>
          </a:p>
          <a:p>
            <a:pPr lvl="0">
              <a:lnSpc>
                <a:spcPct val="100000"/>
              </a:lnSpc>
            </a:pPr>
            <a:r>
              <a:rPr lang="en-US" sz="1200" dirty="0"/>
              <a:t>             Most coffee shops generate a large share of revenue from a small number of products — scaling          these gives the fastest </a:t>
            </a:r>
            <a:r>
              <a:rPr lang="en-US" sz="1400" dirty="0"/>
              <a:t>return</a:t>
            </a:r>
          </a:p>
          <a:p>
            <a:endParaRPr lang="en-ZA" dirty="0"/>
          </a:p>
        </p:txBody>
      </p:sp>
      <p:sp>
        <p:nvSpPr>
          <p:cNvPr id="10" name="Rectangle 9" descr="Bar Graph with Upward Trend">
            <a:extLst>
              <a:ext uri="{FF2B5EF4-FFF2-40B4-BE49-F238E27FC236}">
                <a16:creationId xmlns:a16="http://schemas.microsoft.com/office/drawing/2014/main" id="{D4D4FA59-B539-BB4F-2672-76AD4FB3F8E3}"/>
              </a:ext>
            </a:extLst>
          </p:cNvPr>
          <p:cNvSpPr/>
          <p:nvPr/>
        </p:nvSpPr>
        <p:spPr>
          <a:xfrm>
            <a:off x="373809" y="558701"/>
            <a:ext cx="517078" cy="516573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75337E2-B1C6-95D9-5A39-38734E09AF91}"/>
              </a:ext>
            </a:extLst>
          </p:cNvPr>
          <p:cNvSpPr/>
          <p:nvPr/>
        </p:nvSpPr>
        <p:spPr>
          <a:xfrm>
            <a:off x="373809" y="1988634"/>
            <a:ext cx="8517636" cy="1285067"/>
          </a:xfrm>
          <a:prstGeom prst="roundRect">
            <a:avLst>
              <a:gd name="adj" fmla="val 10000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US" dirty="0"/>
              <a:t>       . </a:t>
            </a:r>
            <a:r>
              <a:rPr lang="en-ZA" b="1" dirty="0"/>
              <a:t>Fix Underperforming Products:</a:t>
            </a:r>
            <a:r>
              <a:rPr lang="en-ZA" dirty="0"/>
              <a:t> </a:t>
            </a:r>
            <a:r>
              <a:rPr lang="en-US" sz="1200" dirty="0"/>
              <a:t>Low-performing items are costing space and attention</a:t>
            </a:r>
          </a:p>
          <a:p>
            <a:r>
              <a:rPr lang="en-US" sz="1200" dirty="0"/>
              <a:t>Identify bottom 20% products by revenue Improve them (better pricing, bundling, visibility), OR Remove them completely from the menu OR,</a:t>
            </a:r>
          </a:p>
          <a:p>
            <a:r>
              <a:rPr lang="en-US" sz="1200" dirty="0"/>
              <a:t>Alternately Bundle weak products with best-sellers (e.g., pastry + coffee combo)</a:t>
            </a:r>
            <a:endParaRPr lang="en-ZA" sz="1200" dirty="0"/>
          </a:p>
        </p:txBody>
      </p:sp>
      <p:sp>
        <p:nvSpPr>
          <p:cNvPr id="12" name="Rectangle 11" descr="Turtle">
            <a:extLst>
              <a:ext uri="{FF2B5EF4-FFF2-40B4-BE49-F238E27FC236}">
                <a16:creationId xmlns:a16="http://schemas.microsoft.com/office/drawing/2014/main" id="{5193F831-44B1-43D8-0581-CBE50CEA08B9}"/>
              </a:ext>
            </a:extLst>
          </p:cNvPr>
          <p:cNvSpPr/>
          <p:nvPr/>
        </p:nvSpPr>
        <p:spPr>
          <a:xfrm>
            <a:off x="435338" y="1912181"/>
            <a:ext cx="517078" cy="516573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6D61666-84DF-7B59-8604-7012211A8FE2}"/>
              </a:ext>
            </a:extLst>
          </p:cNvPr>
          <p:cNvSpPr/>
          <p:nvPr/>
        </p:nvSpPr>
        <p:spPr>
          <a:xfrm>
            <a:off x="373809" y="3311537"/>
            <a:ext cx="8517636" cy="1406655"/>
          </a:xfrm>
          <a:prstGeom prst="roundRect">
            <a:avLst>
              <a:gd name="adj" fmla="val 10000"/>
            </a:avLst>
          </a:prstGeom>
          <a:solidFill>
            <a:schemeClr val="bg2"/>
          </a:solidFill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US" dirty="0"/>
              <a:t>    </a:t>
            </a:r>
            <a:r>
              <a:rPr lang="en-ZA" b="1" dirty="0"/>
              <a:t>Maximize Peak Hour Revenue: </a:t>
            </a:r>
            <a:r>
              <a:rPr lang="en-ZA" sz="1200" dirty="0"/>
              <a:t>The </a:t>
            </a:r>
            <a:r>
              <a:rPr lang="en-US" sz="1200" dirty="0"/>
              <a:t>busiest times are the biggest opportunity.</a:t>
            </a:r>
          </a:p>
          <a:p>
            <a:r>
              <a:rPr lang="en-US" sz="1200" dirty="0"/>
              <a:t>      Increase staffing during peak hours to reduce waiting time</a:t>
            </a:r>
          </a:p>
          <a:p>
            <a:r>
              <a:rPr lang="en-US" sz="1200" dirty="0"/>
              <a:t>Introduce fast-service options (pre-made items, express line)</a:t>
            </a:r>
          </a:p>
          <a:p>
            <a:r>
              <a:rPr lang="en-US" sz="1200" dirty="0"/>
              <a:t>Push high-margin items during these hours</a:t>
            </a:r>
          </a:p>
          <a:p>
            <a:r>
              <a:rPr lang="en-ZA" sz="1200" dirty="0"/>
              <a:t>👉</a:t>
            </a:r>
            <a:r>
              <a:rPr lang="en-US" sz="1200" dirty="0"/>
              <a:t>Turn dead hours into revenue-generating periods instead of wasted capacity</a:t>
            </a:r>
          </a:p>
          <a:p>
            <a:r>
              <a:rPr lang="en-US" sz="1200" dirty="0"/>
              <a:t> By:</a:t>
            </a:r>
            <a:r>
              <a:rPr lang="en-ZA" sz="1200" dirty="0"/>
              <a:t> Run time-based promotions (Like Happy Hour” discounts, </a:t>
            </a:r>
            <a:r>
              <a:rPr lang="en-US" sz="1200" dirty="0"/>
              <a:t>Buy 1 Get 1 Free)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8EF42CE-948C-3A3D-F7F9-969D5D97DD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342" y="3381738"/>
            <a:ext cx="320068" cy="388654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A175A33-28A4-26D6-D637-BE6B6CE2DD27}"/>
              </a:ext>
            </a:extLst>
          </p:cNvPr>
          <p:cNvSpPr/>
          <p:nvPr/>
        </p:nvSpPr>
        <p:spPr>
          <a:xfrm>
            <a:off x="334297" y="4878640"/>
            <a:ext cx="8517636" cy="1069876"/>
          </a:xfrm>
          <a:prstGeom prst="roundRect">
            <a:avLst>
              <a:gd name="adj" fmla="val 10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US" dirty="0"/>
              <a:t>      </a:t>
            </a:r>
            <a:r>
              <a:rPr lang="en-ZA" dirty="0"/>
              <a:t>⚙. </a:t>
            </a:r>
            <a:r>
              <a:rPr lang="en-ZA" b="1" dirty="0"/>
              <a:t>Improve Operational Efficiency</a:t>
            </a:r>
            <a:r>
              <a:rPr lang="en-ZA" dirty="0"/>
              <a:t>:</a:t>
            </a:r>
            <a:r>
              <a:rPr lang="en-ZA" sz="1600" dirty="0"/>
              <a:t> </a:t>
            </a:r>
            <a:r>
              <a:rPr lang="en-US" sz="1200" dirty="0"/>
              <a:t>Revenue isn’t just about sales — it’s also about speed</a:t>
            </a:r>
          </a:p>
          <a:p>
            <a:r>
              <a:rPr lang="en-US" sz="1200" dirty="0"/>
              <a:t>         Reduce preparation time for popular items</a:t>
            </a:r>
          </a:p>
          <a:p>
            <a:r>
              <a:rPr lang="en-US" sz="1200" dirty="0"/>
              <a:t>         Standardize processes during busy hours</a:t>
            </a:r>
          </a:p>
          <a:p>
            <a:r>
              <a:rPr lang="en-US" sz="1200" dirty="0"/>
              <a:t>         Train staff based on peak-time demand patterns</a:t>
            </a:r>
          </a:p>
          <a:p>
            <a:endParaRPr lang="en-ZA" dirty="0"/>
          </a:p>
        </p:txBody>
      </p:sp>
      <p:sp>
        <p:nvSpPr>
          <p:cNvPr id="20" name="Rectangle 19" descr="Upward trend">
            <a:extLst>
              <a:ext uri="{FF2B5EF4-FFF2-40B4-BE49-F238E27FC236}">
                <a16:creationId xmlns:a16="http://schemas.microsoft.com/office/drawing/2014/main" id="{C9BC0830-3015-4EAD-90ED-08035A3150C3}"/>
              </a:ext>
            </a:extLst>
          </p:cNvPr>
          <p:cNvSpPr/>
          <p:nvPr/>
        </p:nvSpPr>
        <p:spPr>
          <a:xfrm>
            <a:off x="334297" y="4831679"/>
            <a:ext cx="517078" cy="516573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94228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0122" y="643695"/>
            <a:ext cx="6571343" cy="1049235"/>
          </a:xfrm>
        </p:spPr>
        <p:txBody>
          <a:bodyPr/>
          <a:lstStyle/>
          <a:p>
            <a:pPr algn="ctr"/>
            <a:r>
              <a:rPr dirty="0"/>
              <a:t>Conclusion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E52D0E9-602E-F384-ADA6-31E26031631E}"/>
              </a:ext>
            </a:extLst>
          </p:cNvPr>
          <p:cNvSpPr/>
          <p:nvPr/>
        </p:nvSpPr>
        <p:spPr>
          <a:xfrm>
            <a:off x="467443" y="1905301"/>
            <a:ext cx="8517636" cy="1454833"/>
          </a:xfrm>
          <a:prstGeom prst="roundRect">
            <a:avLst>
              <a:gd name="adj" fmla="val 10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algn="just"/>
            <a:r>
              <a:rPr lang="en-US" sz="1200" dirty="0"/>
              <a:t>This analysis demonstrates that adopting a data-driven approach is essential for improving overall business performance at Bright Coffee Shop. By focusing on peak trading hours and prioritizing top-performing products, the company can maximize revenue and operational efficiency. </a:t>
            </a:r>
          </a:p>
          <a:p>
            <a:pPr algn="just"/>
            <a:r>
              <a:rPr lang="en-US" sz="1200" dirty="0"/>
              <a:t>However, sustained success will depend on continuous monitoring of sales patterns and product performance, enabling the business to adapt quickly to changing customer behavior and maintain long-term growth.</a:t>
            </a:r>
            <a:endParaRPr lang="en-ZA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403124"/>
            <a:ext cx="6571343" cy="1750142"/>
          </a:xfrm>
        </p:spPr>
        <p:txBody>
          <a:bodyPr/>
          <a:lstStyle/>
          <a:p>
            <a:pPr algn="ctr"/>
            <a:r>
              <a:rPr dirty="0"/>
              <a:t>Thank You</a:t>
            </a:r>
            <a:br>
              <a:rPr lang="en-US" dirty="0"/>
            </a:br>
            <a:r>
              <a:rPr lang="en-ZA" dirty="0"/>
              <a:t>By </a:t>
            </a:r>
            <a:br>
              <a:rPr lang="en-ZA" dirty="0"/>
            </a:br>
            <a:r>
              <a:rPr lang="en-ZA" dirty="0"/>
              <a:t>Tendai SHUMBA</a:t>
            </a:r>
            <a:endParaRPr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164A09B-60EE-CED1-0A52-FD3E837D3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517" y="2655574"/>
            <a:ext cx="2980283" cy="23927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2DD340E-E234-8B48-3A92-B5B790B49952}"/>
              </a:ext>
            </a:extLst>
          </p:cNvPr>
          <p:cNvSpPr txBox="1"/>
          <p:nvPr/>
        </p:nvSpPr>
        <p:spPr>
          <a:xfrm>
            <a:off x="3420517" y="5142272"/>
            <a:ext cx="47901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/>
              <a:t>Questions &amp; Discussion</a:t>
            </a:r>
          </a:p>
          <a:p>
            <a:endParaRPr lang="en-ZA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1046</TotalTime>
  <Words>805</Words>
  <Application>Microsoft Office PowerPoint</Application>
  <PresentationFormat>On-screen Show (4:3)</PresentationFormat>
  <Paragraphs>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Gill Sans MT</vt:lpstr>
      <vt:lpstr>Gallery</vt:lpstr>
      <vt:lpstr>PowerPoint Presentation</vt:lpstr>
      <vt:lpstr>Project Objective</vt:lpstr>
      <vt:lpstr>Monthly insights</vt:lpstr>
      <vt:lpstr>Monthly product  trends</vt:lpstr>
      <vt:lpstr>Sales by Product Category</vt:lpstr>
      <vt:lpstr>Weekdays &amp; Time segment Trends Per Stores</vt:lpstr>
      <vt:lpstr>Top 5 Selling Products</vt:lpstr>
      <vt:lpstr>Store LOCATION TRENDS</vt:lpstr>
      <vt:lpstr>Peak Sales Time Analysis</vt:lpstr>
      <vt:lpstr>Recommendations</vt:lpstr>
      <vt:lpstr>Conclusion</vt:lpstr>
      <vt:lpstr>Thank You By  Tendai SHUMBA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Tendai Shumba</dc:creator>
  <cp:keywords/>
  <dc:description>generated using python-pptx</dc:description>
  <cp:lastModifiedBy>Tendai Shumba</cp:lastModifiedBy>
  <cp:revision>14</cp:revision>
  <dcterms:created xsi:type="dcterms:W3CDTF">2013-01-27T09:14:16Z</dcterms:created>
  <dcterms:modified xsi:type="dcterms:W3CDTF">2026-03-31T20:05:03Z</dcterms:modified>
  <cp:category/>
  <cp:contentStatus>Final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MarkAsFinal">
    <vt:bool>true</vt:bool>
  </property>
</Properties>
</file>